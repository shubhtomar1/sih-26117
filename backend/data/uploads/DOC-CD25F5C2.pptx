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02041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93326"/>
            <a:ext cx="600830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2400" dirty="0" smtClean="0"/>
              <a:t>SIH26117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 “</a:t>
            </a:r>
            <a:r>
              <a:rPr lang="en-US" sz="2400" dirty="0" smtClean="0"/>
              <a:t>Sovereign </a:t>
            </a:r>
            <a:r>
              <a:rPr lang="en-US" sz="2400" dirty="0"/>
              <a:t>On-Premise Agentic AI Workbench using Open-Weight Multimodal LLMs for Confidential Industrial </a:t>
            </a:r>
            <a:r>
              <a:rPr lang="en-US" sz="2400" dirty="0" smtClean="0"/>
              <a:t>Work”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TEAM ADRESTIA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01568" y="1044567"/>
            <a:ext cx="10561320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400" b="1" dirty="0">
                <a:solidFill>
                  <a:srgbClr val="182A40"/>
                </a:solidFill>
                <a:latin typeface="Aptos"/>
              </a:rPr>
              <a:t>SOVEREIGN AI WORKBENCH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1425025"/>
            <a:ext cx="105613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607487"/>
                </a:solidFill>
                <a:latin typeface="Aptos"/>
              </a:rPr>
              <a:t>From Confidential Data → Verified Action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1663137"/>
            <a:ext cx="27432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1  DETAILED SOLUTION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0" name="Rectangle 69"/>
          <p:cNvSpPr/>
          <p:nvPr/>
        </p:nvSpPr>
        <p:spPr>
          <a:xfrm>
            <a:off x="530352" y="1938528"/>
            <a:ext cx="54864" cy="60350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1" name="TextBox 70"/>
          <p:cNvSpPr txBox="1"/>
          <p:nvPr/>
        </p:nvSpPr>
        <p:spPr>
          <a:xfrm>
            <a:off x="681228" y="1916258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INPUT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" y="2069978"/>
            <a:ext cx="1133856" cy="5447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dirty="0">
                <a:solidFill>
                  <a:srgbClr val="607487"/>
                </a:solidFill>
                <a:latin typeface="Aptos"/>
              </a:rPr>
              <a:t>PDF • Scan • Image • Drawing • Code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11680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03120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5" name="Rectangle 74"/>
          <p:cNvSpPr/>
          <p:nvPr/>
        </p:nvSpPr>
        <p:spPr>
          <a:xfrm>
            <a:off x="2103120" y="1938528"/>
            <a:ext cx="54864" cy="603504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TextBox 75"/>
          <p:cNvSpPr txBox="1"/>
          <p:nvPr/>
        </p:nvSpPr>
        <p:spPr>
          <a:xfrm>
            <a:off x="2240280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UNDERSTAND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40280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Local OCR + Vision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84448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75888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0" name="Rectangle 79"/>
          <p:cNvSpPr/>
          <p:nvPr/>
        </p:nvSpPr>
        <p:spPr>
          <a:xfrm>
            <a:off x="3675888" y="1938528"/>
            <a:ext cx="54864" cy="603504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1" name="TextBox 80"/>
          <p:cNvSpPr txBox="1"/>
          <p:nvPr/>
        </p:nvSpPr>
        <p:spPr>
          <a:xfrm>
            <a:off x="3813048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RETRIEVE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3048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Private SOPs / Manuals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57216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248656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5" name="Rectangle 84"/>
          <p:cNvSpPr/>
          <p:nvPr/>
        </p:nvSpPr>
        <p:spPr>
          <a:xfrm>
            <a:off x="5248656" y="1938528"/>
            <a:ext cx="54864" cy="603504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6" name="TextBox 85"/>
          <p:cNvSpPr txBox="1"/>
          <p:nvPr/>
        </p:nvSpPr>
        <p:spPr>
          <a:xfrm>
            <a:off x="5385816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PLAN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85816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Agent creates task plan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9984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21424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" name="Rectangle 89"/>
          <p:cNvSpPr/>
          <p:nvPr/>
        </p:nvSpPr>
        <p:spPr>
          <a:xfrm>
            <a:off x="6821424" y="1938528"/>
            <a:ext cx="54864" cy="60350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1" name="TextBox 90"/>
          <p:cNvSpPr txBox="1"/>
          <p:nvPr/>
        </p:nvSpPr>
        <p:spPr>
          <a:xfrm>
            <a:off x="6958584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EXECUTE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Local models + tools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02752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94192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5" name="Rectangle 94"/>
          <p:cNvSpPr/>
          <p:nvPr/>
        </p:nvSpPr>
        <p:spPr>
          <a:xfrm>
            <a:off x="8394192" y="1938528"/>
            <a:ext cx="54864" cy="603504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6" name="TextBox 95"/>
          <p:cNvSpPr txBox="1"/>
          <p:nvPr/>
        </p:nvSpPr>
        <p:spPr>
          <a:xfrm>
            <a:off x="8531352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VERIFY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31352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Sandbox + evidence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75520" y="208376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66960" y="193852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0" name="Rectangle 99"/>
          <p:cNvSpPr/>
          <p:nvPr/>
        </p:nvSpPr>
        <p:spPr>
          <a:xfrm>
            <a:off x="9966960" y="1938528"/>
            <a:ext cx="54864" cy="603504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1" name="TextBox 100"/>
          <p:cNvSpPr txBox="1"/>
          <p:nvPr/>
        </p:nvSpPr>
        <p:spPr>
          <a:xfrm>
            <a:off x="10104120" y="199232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DELIVER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04120" y="216516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Word • Excel • PPT • Code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58368" y="2668977"/>
            <a:ext cx="32004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2  HOW IT ADDRESSES THE PROBLEM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8368" y="2926080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5" name="TextBox 104"/>
          <p:cNvSpPr txBox="1"/>
          <p:nvPr/>
        </p:nvSpPr>
        <p:spPr>
          <a:xfrm>
            <a:off x="676656" y="2975300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Cloud AI blocked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70048" y="2953512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852928" y="2926080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8" name="TextBox 107"/>
          <p:cNvSpPr txBox="1"/>
          <p:nvPr/>
        </p:nvSpPr>
        <p:spPr>
          <a:xfrm>
            <a:off x="2871216" y="2975300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On-premise / air-gapped AI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943600" y="2926080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0" name="TextBox 109"/>
          <p:cNvSpPr txBox="1"/>
          <p:nvPr/>
        </p:nvSpPr>
        <p:spPr>
          <a:xfrm>
            <a:off x="5961888" y="2882967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Scanned + multimodal data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55279" y="2953512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138160" y="2926080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3" name="TextBox 112"/>
          <p:cNvSpPr txBox="1"/>
          <p:nvPr/>
        </p:nvSpPr>
        <p:spPr>
          <a:xfrm>
            <a:off x="8156448" y="2975300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182A40"/>
                </a:solidFill>
                <a:latin typeface="Aptos"/>
              </a:rPr>
              <a:t>Best </a:t>
            </a:r>
            <a:r>
              <a:rPr sz="1200" b="1" dirty="0" smtClean="0">
                <a:solidFill>
                  <a:srgbClr val="182A40"/>
                </a:solidFill>
                <a:latin typeface="Aptos"/>
              </a:rPr>
              <a:t>Local 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OCR + </a:t>
            </a:r>
            <a:r>
              <a:rPr sz="1200" b="1" dirty="0" smtClean="0">
                <a:solidFill>
                  <a:srgbClr val="182A40"/>
                </a:solidFill>
                <a:latin typeface="Aptos"/>
              </a:rPr>
              <a:t>Vision</a:t>
            </a:r>
            <a:r>
              <a:rPr lang="en-US" sz="1200" b="1" dirty="0" smtClean="0">
                <a:solidFill>
                  <a:srgbClr val="182A40"/>
                </a:solidFill>
                <a:latin typeface="Aptos"/>
              </a:rPr>
              <a:t> Model </a:t>
            </a:r>
            <a:endParaRPr sz="12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58368" y="3364992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5" name="TextBox 114"/>
          <p:cNvSpPr txBox="1"/>
          <p:nvPr/>
        </p:nvSpPr>
        <p:spPr>
          <a:xfrm>
            <a:off x="676656" y="3414212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Different tasks / models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70048" y="3392424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852928" y="3364992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8" name="TextBox 117"/>
          <p:cNvSpPr txBox="1"/>
          <p:nvPr/>
        </p:nvSpPr>
        <p:spPr>
          <a:xfrm>
            <a:off x="2871216" y="3414212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Task-aware Model Router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943600" y="3364992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0" name="TextBox 119"/>
          <p:cNvSpPr txBox="1"/>
          <p:nvPr/>
        </p:nvSpPr>
        <p:spPr>
          <a:xfrm>
            <a:off x="5961888" y="3321879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Multi-step work is manual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55279" y="3392424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38160" y="3364992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3" name="TextBox 122"/>
          <p:cNvSpPr txBox="1"/>
          <p:nvPr/>
        </p:nvSpPr>
        <p:spPr>
          <a:xfrm>
            <a:off x="8156448" y="3414212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Agent: Plan → Act → Verify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8368" y="3803904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5" name="TextBox 124"/>
          <p:cNvSpPr txBox="1"/>
          <p:nvPr/>
        </p:nvSpPr>
        <p:spPr>
          <a:xfrm>
            <a:off x="676656" y="3760791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Knowledge in internal docs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70048" y="3831336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852928" y="3803904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8" name="TextBox 127"/>
          <p:cNvSpPr txBox="1"/>
          <p:nvPr/>
        </p:nvSpPr>
        <p:spPr>
          <a:xfrm>
            <a:off x="2871216" y="3853124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Private RAG + source grounding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943600" y="3803904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0" name="TextBox 129"/>
          <p:cNvSpPr txBox="1"/>
          <p:nvPr/>
        </p:nvSpPr>
        <p:spPr>
          <a:xfrm>
            <a:off x="5961888" y="3853124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AI output needs control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55279" y="3831336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138160" y="3803904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3" name="TextBox 132"/>
          <p:cNvSpPr txBox="1"/>
          <p:nvPr/>
        </p:nvSpPr>
        <p:spPr>
          <a:xfrm>
            <a:off x="8156448" y="3853124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Sandbox + approval + audit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" y="4360617"/>
            <a:ext cx="32004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3  INNOVATION &amp; UNIQUENESS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58368" y="464515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6" name="Rectangle 135"/>
          <p:cNvSpPr/>
          <p:nvPr/>
        </p:nvSpPr>
        <p:spPr>
          <a:xfrm>
            <a:off x="658368" y="4645152"/>
            <a:ext cx="54864" cy="393192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7" name="TextBox 136"/>
          <p:cNvSpPr txBox="1"/>
          <p:nvPr/>
        </p:nvSpPr>
        <p:spPr>
          <a:xfrm>
            <a:off x="795528" y="469894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01  PROVABLE SOVEREIGNTY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95528" y="48589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No cloud dependency • controlled egress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151376" y="464515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0" name="Rectangle 139"/>
          <p:cNvSpPr/>
          <p:nvPr/>
        </p:nvSpPr>
        <p:spPr>
          <a:xfrm>
            <a:off x="4151376" y="4645152"/>
            <a:ext cx="54864" cy="393192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1" name="TextBox 140"/>
          <p:cNvSpPr txBox="1"/>
          <p:nvPr/>
        </p:nvSpPr>
        <p:spPr>
          <a:xfrm>
            <a:off x="4288536" y="469894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02  TASK-AWARE ROUTING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88536" y="48589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dirty="0">
                <a:solidFill>
                  <a:srgbClr val="607487"/>
                </a:solidFill>
                <a:latin typeface="Aptos"/>
              </a:rPr>
              <a:t>Task → best local </a:t>
            </a:r>
            <a:r>
              <a:rPr sz="1200" b="0" dirty="0" smtClean="0">
                <a:solidFill>
                  <a:srgbClr val="607487"/>
                </a:solidFill>
                <a:latin typeface="Aptos"/>
              </a:rPr>
              <a:t>model</a:t>
            </a:r>
            <a:r>
              <a:rPr lang="en-US" sz="1200" dirty="0">
                <a:solidFill>
                  <a:srgbClr val="607487"/>
                </a:solidFill>
                <a:latin typeface="Aptos"/>
              </a:rPr>
              <a:t> </a:t>
            </a:r>
            <a:r>
              <a:rPr lang="en-US" sz="1200" dirty="0" smtClean="0">
                <a:solidFill>
                  <a:srgbClr val="607487"/>
                </a:solidFill>
                <a:latin typeface="Aptos"/>
              </a:rPr>
              <a:t>for each task</a:t>
            </a:r>
            <a:endParaRPr sz="120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7644383" y="464515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4" name="Rectangle 143"/>
          <p:cNvSpPr/>
          <p:nvPr/>
        </p:nvSpPr>
        <p:spPr>
          <a:xfrm>
            <a:off x="7644383" y="4645152"/>
            <a:ext cx="54864" cy="393192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5" name="TextBox 144"/>
          <p:cNvSpPr txBox="1"/>
          <p:nvPr/>
        </p:nvSpPr>
        <p:spPr>
          <a:xfrm>
            <a:off x="7781544" y="469894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03  AGENTIC EXECUTION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81544" y="48589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Plan → tools → iterate → verify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58368" y="510235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8" name="Rectangle 147"/>
          <p:cNvSpPr/>
          <p:nvPr/>
        </p:nvSpPr>
        <p:spPr>
          <a:xfrm>
            <a:off x="658368" y="5102352"/>
            <a:ext cx="54864" cy="393192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9" name="TextBox 148"/>
          <p:cNvSpPr txBox="1"/>
          <p:nvPr/>
        </p:nvSpPr>
        <p:spPr>
          <a:xfrm>
            <a:off x="795528" y="515614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04  EVIDENCE-FIRST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5528" y="53161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Claims linked to source evidence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151376" y="510235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2" name="Rectangle 151"/>
          <p:cNvSpPr/>
          <p:nvPr/>
        </p:nvSpPr>
        <p:spPr>
          <a:xfrm>
            <a:off x="4151376" y="5102352"/>
            <a:ext cx="54864" cy="393192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3" name="TextBox 152"/>
          <p:cNvSpPr txBox="1"/>
          <p:nvPr/>
        </p:nvSpPr>
        <p:spPr>
          <a:xfrm>
            <a:off x="4288536" y="515614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05  MODEL-AGNOSTIC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88536" y="53161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New models plug in without redesign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58368" y="5681924"/>
            <a:ext cx="105156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CONFIDENTIAL DATA  →  LOCAL AI  →  VERIFIED WORK  →  REAL DELIVERABLE</a:t>
            </a:r>
          </a:p>
        </p:txBody>
      </p:sp>
      <p:pic>
        <p:nvPicPr>
          <p:cNvPr id="156" name="Picture 1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7" name="Oval 156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16183" y="154780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TEAM ADRESTIA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80160" y="-231513"/>
            <a:ext cx="9219176" cy="98882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950387" cy="63482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093" y="75256"/>
            <a:ext cx="1838394" cy="86805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0119" y="1296626"/>
            <a:ext cx="315817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USER REQUEST (INPUT)</a:t>
            </a:r>
          </a:p>
          <a:p>
            <a:r>
              <a:rPr lang="en-US" sz="1100" dirty="0" smtClean="0"/>
              <a:t>(PDF , </a:t>
            </a:r>
            <a:r>
              <a:rPr lang="en-US" sz="1100" dirty="0"/>
              <a:t>Image </a:t>
            </a:r>
            <a:r>
              <a:rPr lang="en-US" sz="1100" dirty="0" smtClean="0"/>
              <a:t>, </a:t>
            </a:r>
            <a:r>
              <a:rPr lang="en-US" sz="1100" dirty="0" err="1" smtClean="0"/>
              <a:t>Engg</a:t>
            </a:r>
            <a:r>
              <a:rPr lang="en-US" sz="1100" dirty="0" smtClean="0"/>
              <a:t>. Blueprints , </a:t>
            </a:r>
            <a:r>
              <a:rPr lang="en-US" sz="1100" dirty="0"/>
              <a:t>Text </a:t>
            </a:r>
            <a:r>
              <a:rPr lang="en-US" sz="1100" dirty="0" smtClean="0"/>
              <a:t>, Code)</a:t>
            </a:r>
            <a:endParaRPr lang="en-IN" sz="1100" b="1" dirty="0"/>
          </a:p>
        </p:txBody>
      </p:sp>
      <p:pic>
        <p:nvPicPr>
          <p:cNvPr id="2050" name="Picture 2" descr="Locked padlock - Free security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282" y="999550"/>
            <a:ext cx="783990" cy="783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124660" y="1817642"/>
            <a:ext cx="2175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Policy </a:t>
            </a:r>
            <a:r>
              <a:rPr lang="en-IN" dirty="0"/>
              <a:t>/ </a:t>
            </a:r>
            <a:r>
              <a:rPr lang="en-IN" dirty="0" smtClean="0"/>
              <a:t>Security Gate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441908" y="1759479"/>
            <a:ext cx="23807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AGENT </a:t>
            </a:r>
            <a:r>
              <a:rPr lang="en-US" dirty="0" smtClean="0"/>
              <a:t>ORCHESTRATOR</a:t>
            </a:r>
            <a:endParaRPr lang="en-US" dirty="0"/>
          </a:p>
          <a:p>
            <a:r>
              <a:rPr lang="en-US" dirty="0" smtClean="0"/>
              <a:t>    (Plan </a:t>
            </a:r>
            <a:r>
              <a:rPr lang="en-US" dirty="0"/>
              <a:t>• Act • </a:t>
            </a:r>
            <a:r>
              <a:rPr lang="en-US" dirty="0" smtClean="0"/>
              <a:t>Verify)</a:t>
            </a:r>
            <a:endParaRPr lang="en-IN" dirty="0"/>
          </a:p>
        </p:txBody>
      </p:sp>
      <p:pic>
        <p:nvPicPr>
          <p:cNvPr id="2052" name="Picture 4" descr="Multi-agent System icon in vector. Illustration 23752981 Vector Art at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98" y="840484"/>
            <a:ext cx="957432" cy="95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4825389" y="1524000"/>
            <a:ext cx="852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Router Vector SVG Icon - PNG Repo Free PNG Ic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759" y="2839519"/>
            <a:ext cx="711513" cy="7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agnifying glass icon, Search icon. 22936373 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922" y="2907902"/>
            <a:ext cx="527522" cy="52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/>
          <p:cNvCxnSpPr>
            <a:stCxn id="9" idx="2"/>
          </p:cNvCxnSpPr>
          <p:nvPr/>
        </p:nvCxnSpPr>
        <p:spPr>
          <a:xfrm>
            <a:off x="6632266" y="2405810"/>
            <a:ext cx="0" cy="172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3626521" y="2574120"/>
            <a:ext cx="30341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3624377" y="2574120"/>
            <a:ext cx="2144" cy="2641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646847" y="2589496"/>
            <a:ext cx="28871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533954" y="2589496"/>
            <a:ext cx="0" cy="2641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787166" y="3497932"/>
            <a:ext cx="17086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/>
              <a:t>MODEL ROUTER</a:t>
            </a:r>
            <a:endParaRPr lang="en-IN" sz="1600" dirty="0"/>
          </a:p>
        </p:txBody>
      </p:sp>
      <p:sp>
        <p:nvSpPr>
          <p:cNvPr id="49" name="Rectangle 48"/>
          <p:cNvSpPr/>
          <p:nvPr/>
        </p:nvSpPr>
        <p:spPr>
          <a:xfrm>
            <a:off x="8737600" y="3457212"/>
            <a:ext cx="15016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PRIVATE RAG </a:t>
            </a:r>
          </a:p>
        </p:txBody>
      </p:sp>
      <p:cxnSp>
        <p:nvCxnSpPr>
          <p:cNvPr id="59" name="Straight Connector 58"/>
          <p:cNvCxnSpPr>
            <a:stCxn id="49" idx="2"/>
          </p:cNvCxnSpPr>
          <p:nvPr/>
        </p:nvCxnSpPr>
        <p:spPr>
          <a:xfrm>
            <a:off x="9488428" y="3795766"/>
            <a:ext cx="9148" cy="279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097040" y="4025741"/>
            <a:ext cx="14277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9533954" y="4025741"/>
            <a:ext cx="1449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/>
          <p:cNvCxnSpPr/>
          <p:nvPr/>
        </p:nvCxnSpPr>
        <p:spPr>
          <a:xfrm flipV="1">
            <a:off x="8110103" y="4025741"/>
            <a:ext cx="0" cy="15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0" name="Straight Connector 2059"/>
          <p:cNvCxnSpPr/>
          <p:nvPr/>
        </p:nvCxnSpPr>
        <p:spPr>
          <a:xfrm>
            <a:off x="10983931" y="4025741"/>
            <a:ext cx="0" cy="15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1" name="Rectangle 2060"/>
          <p:cNvSpPr/>
          <p:nvPr/>
        </p:nvSpPr>
        <p:spPr>
          <a:xfrm>
            <a:off x="7151827" y="4805996"/>
            <a:ext cx="4673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SOPs </a:t>
            </a:r>
            <a:r>
              <a:rPr lang="en-IN" dirty="0" smtClean="0"/>
              <a:t>Records                                  Manuals Docs</a:t>
            </a:r>
            <a:endParaRPr lang="en-IN" dirty="0"/>
          </a:p>
        </p:txBody>
      </p:sp>
      <p:pic>
        <p:nvPicPr>
          <p:cNvPr id="2062" name="Picture 10" descr="Stack of Documents icon. 22951451 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721" y="4256448"/>
            <a:ext cx="558698" cy="48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2" descr="Sop Outline Icon Standard Operating Procedure Sop Outline Icon For ..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790" y="4181647"/>
            <a:ext cx="656626" cy="65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/>
          <p:cNvCxnSpPr>
            <a:stCxn id="48" idx="2"/>
          </p:cNvCxnSpPr>
          <p:nvPr/>
        </p:nvCxnSpPr>
        <p:spPr>
          <a:xfrm>
            <a:off x="3641516" y="3836486"/>
            <a:ext cx="1494" cy="1698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7" name="Straight Connector 2066"/>
          <p:cNvCxnSpPr/>
          <p:nvPr/>
        </p:nvCxnSpPr>
        <p:spPr>
          <a:xfrm>
            <a:off x="2173402" y="3968638"/>
            <a:ext cx="30008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/>
          <p:cNvCxnSpPr/>
          <p:nvPr/>
        </p:nvCxnSpPr>
        <p:spPr>
          <a:xfrm>
            <a:off x="2190500" y="3968638"/>
            <a:ext cx="0" cy="59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3641515" y="3998617"/>
            <a:ext cx="0" cy="81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2080" idx="0"/>
          </p:cNvCxnSpPr>
          <p:nvPr/>
        </p:nvCxnSpPr>
        <p:spPr>
          <a:xfrm flipH="1">
            <a:off x="5156548" y="3986339"/>
            <a:ext cx="17660" cy="81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7" name="AutoShape 14" descr="data:image/png;base64,iVBORw0KGgoAAAANSUhEUgAAAOIAAADiCAYAAABTEBvXAAAQAElEQVR4AexdB0AURxee2WtUC7HFhr0rqBjTjBpNov6W2FCsICp2sYtg72LDAhZQLCDSFTXGqNhQUCxYosYYe+/Sru3O//aOgwMR7pB2x1zuuzc78+bNe9+bd7u3q4ZB9EUZoAwUOQO0EIs8BdQBygBCtBDpLqAMFAMGaCEWgyRQFygDtBCNdw/QyAyIAVqIBpQs6qrxMkAL0XhzSyMzIAZoIRpQsqirxssALUTjzS2NzIAY0LMQDSgy6iplwIAYoIVoQMmirhovA7QQjTe3NDIDYoAWogEli7pqvAzQQjTe3OoZGVUvSgZoIRYl+3RtykAaA7QQ04iggjJQlAzQQixK9unalIE0BmghphFBBWWgKBko2EIsysjo2pQBA2KAFqIBJYu6arwM0EI03tzSyAyIAVqIBpQs6qrxMkAL0XhzW7CRUev5ygAtxHylkxqjDOSNAVqIeeONzqIM5CsDtBDzlU5qjDKQNwZoIeaNNzqLMpCvDBSrQszXyKgxyoABMUAL0YCSRV01XgZoIRpvbmlkBsQALUQDShZ11XgZoIVovLktVpFRZ3JmgBZizvzQUcpAoTBAC7FQaKaLUAZyZoAWYs780FHKQKEwQAuxUGimi1AGcmbAkAsx58joKGXAgBighWhAyaKuGi8DtBCNN7c0MgNigBaiASWLumq8DNBCNN7cGnJkJc53WoglLuU04OLIAC3E4pgV6lOJY4AWYolLOQ24ODJAC7E4ZoX6VOIYKEGFWOJySwM2IAZoIRpQsqirxssALUTjzS2NzIAYoIVoQMmirhovA7QQjTe3JSgyww+VFqLh55BGYAQM0EI0giTSEAyfAVqIhp9DGoERMEAL0QiSSEMwfAZoIX4uh9n0R8fHl9vkFz5qw9bQ0Rt8gkevU2EfyIjR6zftG+UFWOcTAcfqvnWbg6AdCogY7bUhdGxUVHS5bMwWy67z1/6ttt47dBSPdT6hqvgyYuTj0wDi3QzjGwPHbNwUMmb9psgxGzbvH7lv3xnLYhlYMXWKFqIeiVnvGRjmtTbYZ+O6A97eG6O8fTbu8/bxCQNEQDvMZ5N3mI+PT4S3N/Rt8o7w3rz+kPcm74OAKO/NWyLWL1y68YkeyxWZKiEEjx3p/q/3Rohp0yEfH2+IFWLzBmwC8DHzMfLY5B3p7bP+gPemzQc3btgYvnHjxrCN3j5Bm3cEhEYVWQAGuDAtRD2SplSSioSIEavkCMvJPmIs/4iJGgipJX/MQB/igWQfEUn9iFBiIsclJlWrVumoHssVmSrGmFSrWukkZmSJLPsxETNyiEOWyMemhiyRITz4fvlHjFISCZeSiJAykSBECGEQy7JfF1kABrgwLUQ9ksYwHBIJFUhskvz8UNSm6lGRywDe1QN2LrX+BLuWWu/etcw6AGTAzhXV90R5VQ8NWt9Nj+WKVDUseG2XgJ2rqu/Z7Vk9wH+JdcDOZVpx8m0eS60DdsHYruXVA3atrh4IcWKU+JwQGWIYAdRkkYZgUIvTQtQrXSKkYEWI4wipXdvqQ+3atQFWH5o3r/k+V9Ss+R7ONJxeyxWhMviqzDWmbOJmBJgQJEGEE+MidD/npYvhKC1EPZJCv+JzJws4gjdcn2KkkrnPoBo8A7QQeRYo8o0BOA3SAswDm7QQ80AanUIZyG8GaCHqwyhGWB/1Eq1LKFf65J8Woj5s5aBLhygDX8IALUR92CP0BkRudBEEZ0L+uoHerEH6vGgh6sEW3JdHDCZIgIV6zCpZqoQVEI4IEAaeSlbkXxYtLUQ9+MNIznJcCkKcnNNjWolShYf5hHDJiEFSZYkK/AuDpYWoB4HNmtVeTNh3t52HOQzUY1qJUh07YdAwIZN4q2G9mrONJfDCiIMWoh4sL5wzMfD2zeMNXF37ndJjWolSnTCy39GbCYcbLV48OaJEBf6FwdJC/EIC6fRPGcD0B+KnpOTSQwsxF4LyOkwIwQDJ2bM3rHbsOFhvy5aD9XjpH3So9p07b0rBmBjA31/Uewl+HsAkOjq+HG9ThaCD9aKi4svx/YBc7Z45c8tyR9DRelvAN79df9TPCd5+++oHgW5s7B3eb5HeDtMJuTJACzFXivRXiAg+3bLn7+PPtfh28LPho+e/Xrx8++31PoG3l3ruuO25bMe/3XuPePNjW+d7XXuO2w5FYwLItXB4L0CPWbLcv3v7zi4Jrb4f9MJl7NKXSz133vZcE3h72eKdt6e5LXvZvGXfZ792Gn5p6dKt7UA/W7uPHj0ynTx51k3PJVtue60KvL1yxc5bqzz907AdJGAlwFMNr7UBt+aDrpPLjLfftRlwz9nFww1sC3ifKPKHAVqI+cOjygpsTuHshf5RHovXx96++6F18kdUFhETLBKbI4UCI4zF/N9KQIiYC9+8lVW+d//d0GYt+r366+S/fWAuVhn5zMfLpKRK//t9/M3AoL8iHz1MbfoxUVBKKDLHCAsQp7qHK4THKqZYoTQt8+R5kq1/wOHjXbqOvfGekLJZTcbH/ytJkuIqctYMKWEyq1AgxIkQ/3ctCZGABHCAtLYQ/GaVGOybC969l1c5e+7m4l86j74EPosQfeULA7QQ84VGBJuXMC5jFkeFBB/synJYKBBI5eUqyENnzhpqHxzi2WLf/vW2oWGrm4eEen7bv/9P40xNlfEEyQiHTSxcJ8zZM2f+xn6wsXF27py8/HfdXzs4/Xv3v9f1FAopNjFJSqxdw2LTvAUje+zdu7LlwX2bm4eFb2y5cP6E362tS28XCpXJCMrm7n9vGv5k2/2fCxeu1tK2+x4OCGYQixTIZfRA7wP7/ZtHRq1uvm//qmwREQpjYRvsetu3m2Riyt3HjBA/f5bc7LfuY6LBFH3nAwO0EPOBRN7ElOmejmdiEjphJEJWZcQX/LYsbBBzYq/9kP4dQhrXrXC5fq2yCY3rVbjSuF6luLnuIzZeOh/UeuL4wY6pKa9ZQsSC8IiT2zf5RTTmbWkDilPiOsIjRp4Kpz8OcTZNq+84dsjn60NRG8fY9/hxv02jypdq1rS40qhumUu9erXadyhqw7Cjf4RWsm1Wa69YJCaIq1Bu3LgV4XfuwOlNyzDGCDFYgcQixbN69Syu1KtZ4fMAvxs2LH9x/izntccPh9tUq1LmhFKpQI/vv/8hIOCYtZZZ2swjA7QQ80ic9rQ3hJQ69OdZPw4uE0uXET2aOmlc59atG9zDOdw9hDFulPPvO11dh7dUohTEITOTA/uPu0PhZcrJpCmeCxQKs/ICgQg1bVZz7d7A1U6VKlVKhvlE2wftdoUKOCkoYKlDs6bVdxPCoeRUuc3+Qzu/19YhHIZzJoOEDIf0eX31Ff64aOksZxMTIuPgnLo9IHCtPvOpbvYMZEp69iq0NzcGNnkGOyPGEhEk537+uXnXXr1av8ltjmZ8vEvPq7/92jqSQ0p0/+HrfjNmbKikGSOEmFy8fH0IyxGEkeyf4MAl03IqQM08XvJ6AbsXOX7zbc2YChVMrtv3+jmW79cA838MjQgR4gCaTh1lq2bW/5maiK8yWIySk6Tf6TitpKjlKU5aiHmiLfOkkND9QzAWoFKW4heL5038O/NozkcYzprNG9Udy5FUolAiLDIRtdHMuHs3qdSbd0nl4eSFevTssBB09Tp98fp+vnN+PPbXjmbVqlVL1dhNl4RPP4/0Hp0bycmyVzIZg+QKgUTnSVTxswzkLQufNVcyB8zNTKrKZMlImiq9DZtfqS8Lv/7a/Z1IyHzEAgF6+vxFU838uLhzlTlOJCCIoK49usVo+vWV4BPRnlOGP8AcIQy4yuhV2/xM/saUsFQp0yZ8CYJvOp/9VZPpR7YM0ELMlhb9OhUKmUgikiARI/j0rKODqapVEWdpairFhEXJyYnmmikpCiLAcPMHwS/IiqUtpZr+L5X8XVMExc3bIZg/3/It3bFihX/X9+8Tq0nEStSoofVm3WdSzc8xQAvxc8zo0Y+JAHGcABHMZjrz6GEC6oJDGJ7pgZF0GyKRAmGwzRAOpaToZS1XZYIxrMlAieu3BTZtO+gQGHzcjxALrJAmcbv8Fq7JdTGqkCsD+mUhV3NUoWAYKHircGMIb9oa5vzdT47B33znFNK6zZCQ1m3tVbD7HmQbh4jv2w5+7LV2R4A0lbFSKqVkiKN9P4wxXN8WvH/GvgItxPzMMEFwmslPgxm2zMzMMg7yp6XyFcOPPN7c/v0xFt4+O9Z9fMv0ffcW93n3nu3z9h3q8+adpM/rt0Jok9/ffWCrCAUiLJEo5W4zXJxnTR0Uys+l+HIGaCF+OYeIwKUjB5eVcmXeTw4E/BAI4FIR7EBT9U5RKMA2QXDWUR0X5Ef37j+kNKxf7w9zc/K8dGn2Rdky6LmlhfClgGBkIjFT+WBpIfqncmXTJQmXdls5OnbYXpD+lDTbtBDzI+NwbiGEIIlElGdrDMMgpZKF320YrKnNiEQiVQHwRY7Qa3VnAX1ijNm9e1b2iYvdVu1CnH+V2FO7q12MCahR+WtyFJMPSCREqH+/nvMPH9jqAbrJBeRGiTVLCzEfUi8QCIgIdqpSweaVT6xQKAR8MQrEQqhGtVMiuGMKBU7APkpBZurOAv6EIlMCWAAvU6e5ThpgYWHyhmM5tM1v59aQkNOtCtiFEmZeHW5eN456Nv1UMcBy3EdOqUCWlpY1VB16fty+/VqUkpxShi/E8mWtHmimm1mavEVwXxNjEXpw/26ebGtsZZUYzuB8H0jCy8+hS5cWryZMGt0dM4yScBKztV5+cMeUiD+nT/vzxgAtxLzxlmlW2dIWx4UigpKS5ZXv3Xunel6eSSGXg8iowz8hzkxI4LfmB1nyOY36L91+eicQc8mIkaBF81YOIISkX7ZqdHKT+/ZF1zl4MNpOe67aQag/zMH03LfAoD7fnWvTuuEBhAh6n4yaODh6eGnbAyP0/YUM5J6FL1ygJExfvMDDTwhMKhUiS+fR0/k/uC3QNW7Y0KKgvQf2YoEIfmPiZ1PHjL6pmQsF87FKZbObclkqev9W6bJ5876GmjFd5PaAGNuZszb+M3XGmjgf3/3pf2JHPRcKEQoLIaX6MIdPuEwlmzbN7mVpYX6XZVPR1cu3hy/19O+cwxQ6pCcDsH30nEHVP2HAzq7yGYFIeY3jMHr+9P3UuYu38mevXLmFIjTraT/rr1SZ0Jwlqah27a+n2thUSr8RAgXAOQ/p6SwSyhRypUS01T/scOShU40+cSCbjr9OXm26Zs2W4xwxxYxQmGpqIf6YWY3/rsCIYN3OsuALmTZlWAcTkegDQQLhnj2H9t669coys016lFcGct0seTVc0uYtXzS9DcLJLEISFBJ8zL9jp1GHHz5MrgzF9snlJPQxXhtCu/z8y6h/b/79oC38/EJflRP/FbxndUhW3uzt/3et5+/tNnIkESUmsdUWzN940WHwjC03btwQg51PbJ+5dcty6PC5OyZNWRYvVyrKCkQfyc/tbVc49u+UwzItRwAAEABJREFU/tuTXwMThgiwEJq6b4HevX94YO/QeQziCFKy2MJp+Mxr4IPuBmA1+s6eAUpi9rzo3fvLL3Yf5i+cWksslqdKhObMi2fSXzr8NuBhi1YDUprbOSTatOib2NS2d2IzW/skmxb9Ujf57Dnw5k3y1xjLUGlLdHXrRveuGGNFdgsvmjd2yszpzm4M6KamiEyuJDwd0cdhcUoj237JtnYDEpvY9km0aWmf1NC2Z4pz/9nvzsc/HsIpLcUMp0DDh/Yat2717MVgm78WTTNfBnGcEsH5EAkIiLReXcSsqQP3VLG2WiMSitCb1ynWQxyXLNJlHtXJmQFaiDnzo9eoffcfH+4L21LFwlx2GKFEpamZuSBVRkzkCqGFkjW1kCtEFiwSmMtZIhZIGPhZKE9q38ZmROyZvTaNGzeWf24xKCJuhFPnZXPmjm1ibsJeIVwKPFqUCzARmkqlyILjTCxkcmzOKgSmEkYiwFwqZypOTli/Zk6dyZOHesN8OFNnWLewYAlCqSxcDhMlkWW5ZM3Qy64Ftsgef5+5JmJ0HwsT0d3/bo9E9PXFDNBC/GIKMxuwti7z7szpgM5/HNzTsqlNjalmZqy/RMyGWZiJwi0tROHQDjExZb179OroGBmypbqPzxzfzBY+fzSgz883LpwPbOm7Y+EP9epZuQvFqTstLFC4mRkJNzVB4SIxu6NRg0ozt2yd0zo+bleLDh2a3s3OWseOLT+2am0zw9xSuLVRq9Y7stPJqa98eZzou2VJB0tLk9AWreq55KRLx3RjgBaibjzprVWtmuRqwLYlqy7FhThduhDYJ+6cX28ojt6XzgfbX4kLH7vYw2UHX7T6GoYzEvdjy0axUeFbllyNjxgaHxvYOz42oPflC3t737gc4RgUuHL5j60bxPN6n7MNY2TntsWr488GubRvXlP9t6I+p/yZ/mbNrP+LPxfad8Nqj7DPqNBuPRjQuRD1sElVKQOUAT0ZoIWoB2GEEMHp0zfbzZun+jcmEH19ygBwxMTF3W4DEn86Sns+xwAtxM8xk01/v/7TT7qMmxF9+pzTxWyGaRcw0LGTwwXH4dNO9R8w7SQc0reODNBC1JEoXg0eqpeDB+To2YuPFfhjik8ZePH8Y3mESiGZgqEcfUrPZ3toIX6WmuwG+KstoIwTZzdosH356TjBYswhMSL6PZ7MTxcM0hbsKoP0u0icJrDFEP/MnZdF4oEhLEoQwQQc5QD0rSsDtBB1ZQr0GCRH8BAdqYoR0Vd2DBDEwLlQCUMMgL51ZYCypStTKj24NCUiKEaQqmP68SkDLEJYDuCLEdGXjgzQQtSRKLUa0EUECPFQd9DPLAxgOCMiFTCiL90ZgJ2lu7Iemkapyv/yQZj/xqff9p9NMP//0+D/Aj8n+awKHfiUAVqIn3Ly+R4oQo5TIoFQVZKf1yvJI5iFUyGH4Pod0ZfuDNBC1J0ruCSFM6GAQUp+r+kzrwTpcphFCMsA+fxPkyPjftFC1Cu/DGKwCMlkYksnl3lLXFyWLnFyWazCsJGLlmaFI/Q5jlyi6nd2mb/M33/fD3otl4tycDARTJuxcuKESQtG8u1c1PUa9veP6DBi9Lxlw8F/Pg6ntDizk84jli4ZPnzB0lGjFixFrEUpREzhS0uk13olXZkWoh47ACOORZwMmZqYW8ad+8ft1Nm/3c6du6nC2dhbM7URA8cxsbeh7+bMmHMwdu76DM81m07psVyuqinKqAYH/4hZe+z4xc1JSfvq5zpBD4XVa73/OhuTMCPm7LWZceduz9TEee7cTVW86cdnb7rFxF13OxN3feap2L9nYsbckuEwYhBhEX3pzAAtRJ2pQqhatXJbhILE9xz39gNB0g+YSf7A4JQs4PuSPwhw8gchk/RBwKR8YAS8ruJDu3bfb9VjuVxVGSVnwSEJUhC4MSJE+frvx3To2NafJakfMJZ9QKo4kz8ymEcKxJuchqQPDJMKPKR8wBAjQbIPHPv+A0bv31evUmpjrgFQhXQGmPQWbeTKwLo17l5XL0d9deNKhNXfCWFWN65kh3DoV+Pvy+FWf18OBYRY3bgcYbXRa/aoXBfJo4Iwn68E16z0GHbz6h9WN66GWf2tijO87I0rPMLS47sBPNy4Egrx8XHuU8mbV4OtblyL+MrLa453HkMpkdNoIeqZdowxl1fouVSRq+c1Tn5ekTtvYA7QQjSwhFF3jZOBYlKIxkkujYoyoCsDtBB1ZYrqUQYKkAFaiAVI7udMr1+/rd8Ilyl7ExISzD+nU9j9sbF3SrmMdju81NPn58Jem66H4HEPZaFQGYiPf2q2ZdvRnTGxz/uG77uyoFAXz2GxqMNn5p+OefTbjp1/Hnj0iH8in4MyHcp3BugZMd8pzdngG9ErrJArhBzhkEIpKzZnRESIGcdxiMGMAKHHOQeh1yhV1oUBWoi6sJTfOgwicIsfM0wxop8jCHxCLKvM72ipPR0YKEY7QQdvjUDlK0V5wodB4JNTcnyzWEDzD0QycEJ8VCw8KllO0EIsWfnWKdpqOmlRpfxkwOgKkRDCPH+eWCEm/k7tsxcf1Tl78d8ccCOHMc28zDpX/3lQ6907UgbWwfmZCGOwxXPyjpAyV6++qJWZd57DL8NFyGNM/LXaHz+Sr/h1jIEv7RgMsxC1I0hr3yFE4jJuRb8u3cZd7Pjb0PsjhrnfGe40DeABmH3H2dEjGyzMpi+r3oI7w4eCjaGzVbJfz+l32nUc8LDDb2MPzl/s1x42hTDNhRIreA4WrtjapWuPccd+am7/qO+A8XecHGffcRo6J41fnmf9MHzoQuBbgwV3Bg1xvzPKeemdb78f8KBz1wkxLmM8esG6RvPvWhpFIUJCRKP+N/x+9IlLe+4/fGvLErEpgVsPcEcEcQgjgvgw4WYgygCGtgYI2tmBH0dIgggWIYQxgCCBkGGUSoHlo2fvO+/ZE320S7cJR+Pj482Qjq83b15hghSI8PoMy38WC2BM+ADh5ilC+vxG5B/H9Ow/8XJgwJ9R9x98aE+QxILlWEZFVx55R0iACOYBd7UYyB/c1CIg4Sc1Jkhofv/hu++iT/8T2rHTyFvAPSSnWFD4RU7wO/SLDBT15DdvSNVGNt1Tnj1OrEgUHMKcnHz3bZMtkyY5Ori6Du45adLgnq6TBvZ0nTwkHVOgPVkL/LH2uKbN67hO7t9z0lT7XpMnO/ScPHloTxeX/oObt6x3GLOpCBMl8/zF+7bOLnOfEKLbvyhVqVJF2J5CBvN3axD/z50VNYPq9TlCUlWlyGCB+IUAq3tz/oSY8eixk9/8c/NDE6VMAlXDITu7elHjxwwYMnnKkF5TpziqOJ/kOrSXBq7Qnjx5CHA5pOcUkBqutWVG/1DIHdiY5Nhz0kSnnq4Thwz84YeGAQi9J2KhAD95lFRzxCjPZPDD4K9KDLoQ790jJr91GXxGyJQTEES4jh0bu924Fmq6bYuHy0inzkEuTl0iM/AbtNUY7vRbZFa4QF9W8Dr8/JFDu0UMd+oGc7pEjh/TY/fubXM6374Rbtm8RdVwqVSOkpPNy/zSZcQN2BC5buCjZ6Kt1GcfDiW9TzyT81YvvFGpNDGGEBbBGUdw+NRfZXNbmY/1l87D7iQmIRNWmYQaNaq0PvpogKW/75zuE8f13jVyaGfgrKOK85HOv0Zog+dVg6yc88f8GC8zYTjkbninQN/NswbdvBpl9mNrm2UMFhGZ1Fxk9539HUM/Mxp0IW4P2jL+Y4rMWs4pUA3rSsu9N8xZgTH/D6bkto2+fBzWSQrY6dmvYkXLfWKRBXr29GPdP6MvNMrVMhEtIBgjhlEolUrZOVRMXrLEN+cEmOMIMkXSZNY+N7diYq63fPo0qRaBC4GKX5v6RYatnFyhAk7KbV6u4zooYIylPj4z3Bs2rrKKxSxKkQqtQ/ef6qrD1GKrYtCFePLU2e5IIIBLvWRyaP+6OZAg1U+vwmIb1lOu8loyVShiZQQLmUULVyzPae3oM7d/9NsSOpBTmqCyZUyPb9zo/gQVk9fYsYteVKhoeRuxCIWHHl90/PS/LXNybfqshfMxNsWmpmLZVu8VM3kuctLP7zFYjwvdu2QeZj4SjjXF8ef/mZjfaxSmPaYwF8vPteDSqPS7d0k2hEPoW7tmxyExsIXycwXdbLVsXOFfMzPmikKBkFwubgF+CbLOhD4csT/m1zGj3I5yrFgkEBD5sGEOy8Bn8D6rdtEcN26M5UMG9ZkgFMnkLIfNXCfOig4JOdUhO28gHjFhTVsmp6YikURxuX79yq+z0yvoPuAvuXUrm2MMweTtmw8t3r4lpQt6zYKyb7CF+PixrHxKEnwVwl3NPva9AzUEwSbBFy48+OHEiTvdTpz4r9uJ0yBVuAntDESfvtk1O5w4naGjaqvsqG3AnbquR6OvdL1583E9zXq8rFC+bLxIaIGSPhL+dnr6Xbw7d4jEc03Ygm++HSL18Fj/p1JpKlGyKcjuW2sP56Fdo/m5xQnDhnY62qp1gx0IK5FSKbGcu8DraMtv+qV4bQx1j4+PT48LfLZQKrClhaUZqmJd7gIcp78vXrzf8PTpf7pGR//T9cTp6yrOs+M5p77TZ/m5aXlI4//YievdzkJ/XNxdOz7HmgXt7QcEYEKwVJpk8ibpZTlNv6FJgy1EGZIhIZbAZakSmZoKZBrip0xZtmeY89TTo8fP3+8yYfb+keN4zNo/auwcFUaD5DFm7JyorID+qKx6o3g7E933u4yfvn/MWPcoV9dVUf0cJt0ODT1SV7OmSMwQwqUiRiwWTJ+9seNAx3lnGtr25P7Xd6B0q1/k7KQULMaYQValuSQnx85ddmxevFIzt7jJ7Zvmugzo126cmZksGWEhSk4Wmfr4hC4aPGy5vKHt76zD0Bl/LVi8s62UVTIKmRTuHMMThbQgQiNiBg1ynHRj+Jh5US4T50eNHLdIw3kUz21WvjXH/JgGfN/IUe6Qh3kwFzDBff+oCR77x05YvH/k2PlRjiNnXBjn6umetiSSiDglYRTwmMoUuiQAw3wzhuk2eC2TIaz6L/PPwipVah/mWHiuAPf/BCogJIQbCgwSIQERISYHqMaz6iEC87AKDJQ9x7KIU3CyGjWavEOaF1aAFotYJSqzf99fUVcu/fcDYc2xgJEhxCSxZcowN0qVEU4IDvap7j7T+Q+4pMrstMZOMZC8b3PdXTYeP7LXukIF80lWXwlvIZLKCflnqawZk3D5Xse9IUfCFVKRCatgkIDJOFGaWZjfEDJsKkNkSADPShmkBMaA86ycZslB9rwzMBfow0glEcshTsnyhS+vXr3a1QyqWGgCncRwtzIEoI6RbxgLpkyx9/f2nlt79crptdZ4zqi1doUbSB4Ta61emTvWeGbWWaOyM6vWmhUzaq32BLlqRq3gkFU17ewyfhfBNoBCFCDEYjhLI0Q46ceaNcpvKWWh/N8ijwkNzp7abnv25M711tZlMoq3mBNeqleCDgIAABAASURBVBR+c+LotrUxJ7c381zm1sDcVNm9tnXFICHDJWGOIIwZhBmM4JEH0YTS5Rfby9v9ltVZu2p6rbWeU2p5rZtWi+eTR27cZ9VZ4zmz1jKe7xVTwMbkWl6rZ9Xy2eBWK3Dnolozpjjs16ypLbFcjrWPDanNGJKzuvratm3TR7/9ZnMvM1rDcV6gscPPVbcbNarxLJMvxBQKUYiEQpI4xLF3qz0B6yof2r96VNypfYfs7dv/izH86Mo0wXAOwHdFt27f3omNDY46cGCNw54A768nTezXViyRyhkRhzAmmTa/nV2jZ7/9xnMFaAvQtPWWNve6q3KosWFzr21bm3u2tvWLzZ3m/MyiURQi7AR4Z9ASHU2E8fFEVDCIFxEC17oZy6lbmEOwMRXTJw2+YWNTKRk2MFEPGNdn48YVkpydu98QCJQsTwPLijPFyXNTMLyr88nbz57RzF8I2esU316jKERtevfuPfKDm7v9u2HOPeVOw3n0kg8b3hvaecMw5z5yR7DjOKI72AB7IxbLW7bq8Twh4bl5+rpYhjD/fxNGykybMn28EBpKRSEskrZEIi/5//0aJ0ZQjOkxxybcqdr6u+7Phg3vJh8GfDmO6Aqc5Y13R8iZ44iecscRPQA95UOde8mHOv0u/+Zb+9fBETG2vAs8jAVGUYiMgEnfDKdOXXB9/x6ZKdgyBIDkrCWScWYgzfMEGVcayTlLpOBMQZoiqcyMSOUm5WIvXaim2QQYylDTLioJzybTOSgcHziE+JtRcKNKs96Ny//+lpQisVKwVpyMLYtkrFWeOJezkCvOAvJmCfMtkUJpqZIsU4Z8SBGW+uvIyZ6aNY1FGkUhsnBHTZMQF5dBI5s1q7a4eYuq61rYVlnXskXldS2bVwVZPXu0rObVUoMWWjppfa2aV/b6xhZ0mlt7tbS19mplV3tdowZVpo507HpHsyaBO3YCuDLi4F6hpq8wJMswWMAokQDOxgplYayovQaGdRHcNWUxSnvBc8jdTRpXmWFrU3l9yxY1vFq04HnLI1pU9WplU83LLs1GC9vKXs0BtrZV57o4j1qdtqTRCKMoRNgJ8FbnpFkz63fBQavnwN0118BdiycG7liWBr6dDfyXuAZqsENrPK1v985Frrt38jqeroE7lwEWuIYGr1mFMWbVK/KfQoQJ3C3N45kRfvdIjhy5NmripFWXhg2b/cTJad5n4Qhjw4YveDzQcfaTY0ev7yesGUJsKXQy+nbUEKc5j3Oa6+S04MkQp/mAeY/HT1oZdyT6siO/Nh+B/uApF0DQAr6hmg6cyIL3eK3asxt48l/gupfnkOcuD9ijmesPtmD+XrC5Z8fSScG7PBfZ2Vl9UC1oRB9GUYiGmo+7d9+WHuzkEdWs+WDpmIlLff48fr35mfiHlWPi71Q+dyF7nI//t/K52JtVLl+8Xfn8+YTyLBLCZTODLl26WSHuwq0qn5t37sI/lWMvJFQ+H/935fMX7lQ5cvTiN66Tlm5v1Lx76vCxC/afPfuIfyJuqFQavN9GV4jwDW86b/H6AW5zvJzc5qwH8NLLyQOOdUQmXbUdtQ3engfYnL9ofV9Y54u4Cwj+s+VgJ9eb588/6CqTMUggJBxmkt+amCoemZoyAGEWCB6amvIQPTQ1ET00txQ/NDMjDy1M2YelLdBDgVDxsHRps4emplnnaY5Fj8xMSz8yk5g9MjMzeSRkBO85TsyxXGl8JuZOtynTZt3x9z9UW98dzWFCNHOAE+Gc+Wv7urmtdpo1b8OwWbPXDcsL55nnrId8rIc88tLLac78jf1gHRPNmgJGkL6+ps8Q5RdtpuIY8MxZK9fs3XNkd2RE7LbIiHPbIvad3ha578S20MiYLDjrFxqpQQy0s8NZv8jIU4DT2yIiY8Fe3LawsDPbQkOOBEdFnbLOa/wREdE1lq/cHf72Hfc1/MYjNWtZHu4/4OdfQnfP/fpqXGD1hPO7ql++sCMLdlpfvrDT+uL57daX4ndaXzi72/pKfDAc77C+eMHf+uqlQOvzMf6gk3VexvHFC9uqX4rfXv3Seb/q16/squQwoGN362pWx7CSQ+/fkyrrvHceCz54vpI+ccHD/fRCCAo53C0s/MjeiANnt4WEnfEL2X/OL3RfTFbe4fhsGrKOZXcMfEee2RYeATmIit0WEnkyYMrMdWM0PrJcxm9UTZ8hSqMoRNgJ8FbTX6tW7btCgVjJYAFhMEYChFX/IQZCzQQY5BVUYDCMZwMMLwbA22AQxgJ4aC8mcqVSVrVeTRnKwwu+zZmdQZErkpPl1RmBjPR36Lj0z4MbO893G3G8cePG8jyYzNMUCEo2d6bjwSMHvH51GNR2kUCIkSxVYL1zU4Ab+Ih1NcpoKdapW/clwwjlMB/oZODRBocQBo3MvCPEYKRG1jHtYwQ6/DFGal2MlJwSSaUyZb069V7CqOotQJozIpyaxeL0faAaNKAPxoB81clVlxG9PGe79zOd69HdZK5HD8lc976See79JZNGtxdnYKp4waxeWfraq/r4fm3MU83vK5kPtuZ5/E8y272bycK5TuYtGlR/qpNDWZR8ff+o/O/tp32wUo7q1K54ZM4s5/Q/wJxFtVAOMcbcnJkjZ9eoWyFOSRTo4aMX4zdtOlBZ98UztlCr5nVievdoYbZwTj/JQvffJUs8eku0uczgX50L7bFP230yzV3o3hts9pUsnz/QfNSIzrt1988wNDNYNAx/dfLS3t6eBci14eLiosiAnYIfyzhWj/F9OkLrjqlOLmUoCQXLFEoBFotFihZNGzpmDBRtq0GTOt0xUcBvRoRT5bJuefVm3rx53Oc4/AK+tXOZd+4RymtYBT7PKAoRIwRvlP6CSyO4TiEFhvSF8tA4F5PQgDACJBQJLs2dO+ZFHkwUyJSxQzt9hJtAT5UEo4uXb7bQdRG4+PxEtTjz/4mzxaTDKApRm8sjRy536fy/sXHtfh5/ud3P4y636+ACGA4YlSe0/3nM5fY/j77c7mf1/F87jbnc4ZchMXn92+D3HzxQ/S3yihUrvIHLQqLx/dipC9+MGOu2ymX07DUuY5cUCEaO9VyjxrI1o8YvXHnwyHlbzfo1atRQVqlSNYk/fv7syde81AUYvu40eg9fvK/9S+fhZ9q1B86Bt3Ydef7VvLXroK8cc1k9B2zB3Pa8LchBx06jY46euPmdZk1jkUZRiLCb4a1OSVhEpPPjx69sX7x83/TFy4/Nnr360OzFq/fNoG2TFzx/9d7m+asPNi9eJdm8eJlk8+TpO5s3b5O/DwoK0evuoto7+ISnFPCJBJhLv8QihIhWrty869TJf1xPnbnnevr0jYknz1zl4QoyH3ERbMXDGpddT566OGnNGu9lsDbm/QEQoUDAYbi5omCVOu8LmJDO/eFDx9s+ffay9au3SU1fvUlu9uwF8PbyI/CWVySlz332/J3Ny9fJcJz4ra/vjt/AX6N660y4oUS9fOm84RUqCs+ZW0ovW1hIL1qYs5fMzNElMwvpJXNtmMOxBlr9vB7gYjrMUy+amacApABZfOnS+HyN6lYnRo/uezcvnBCi2bea/a+ywlatVu0mnCEVMC7HhFEIiCDfwRAx2JTIBZxILiAiefkyFfg1NQ4hBLuBkOwuNlU+ZvvBELiWTRv5xbFnYC3rcqdNTKSXTE1TLllYAHeQA55Lc5CAS+YazkGm9avywrczwVwGfPO8q22YW8jjLUrJLnxdRXRq04alXmlLIhZlPL7Acvr3ETW8FLksUwa/O/7XnrYXY0Pt4uNCWl0CeSk2zO5SbETLi9qIg2MNtPp5PQCvr0ZcpN2luH0AsBEX2urcmT2tIyO2toeiUaqDzdsnwcL0AgBb3NaNc3+/eTXE7Oa13abXr+40vZ4AMmG3Cch8w98JO0xuJOwwvX51l+m1hGDzPXtWTMrsfbpLmbtzOMIEY81wTYylUfu2/XzpfHiri3Ghdmm8g4ywA+55tLyo4RwkzzP0t+TBtzOBnx8XYafiPpaXoa0uxIR889cB/3Z8jjVrGouE70DDDwV2ArwNLY70K9N0xzHGXGEifeFMDf2LMdN0epAnBoyiELUjJ3CpdPhwbI/Q0JPDQsN5HAf517DgsJPOGoRFnHTOipCw6OFhYafUSBtX6QefUc+LOOocHPGnc/i+48NOxlz9iV9He920ts5fCJz2nxlPm2zogueE5yY4LNo5jEdEtJq7NO41nKt4Tevj25p+bcn383aCed7DjjqHhp8eFhJ+wun4qSu/8et8yhXRmftP5xZ9j9EV4oSJC7fMcPeKcJ+/1W/WPF8/t/m+fjMXbPPzmL/FVwO3uVt9s8J9vu9Wt/mb1Zi7RTXuMX+rr8dC37R5Pr6z5/r7urn5+rm4zDkZfvBYzbykj/8FpjrnEEGm6UejL3Z1GDLpeF+HSdH9B82I7jd42vH+g6ZCO3s4DJp2oj+PwSCz4rPzZqTZmxI9wHHSsbAD0R0zOYH4vZzZr8zjnx4RrbumYZExfUeNmXdizgI/31k85vmlcafmXsO5ileeWxV4rrWhzo1aB7gHG7Png725Pn7uczdtGz9p+R9jJqyYqvFEP281s4qfNIpChI0NbzW5tao3vMMqWAVDWI4hClbAcaxQiTiG47SgJAyXFSz0aSNtHB5yMxzLYZbhMEc4sUTAMgwjt65UJ1W9YqbPdD8y9WZzwKCMS1P4hhctWbzBK+HK8/bXbrxvl5DwqN3VhEftE64+bpdw9VEW8H2P2125+qgtjLUFXcDDzFDNeQzzMnAFbF2++qTd5YTngJdtr1x60nbdaj83WJuvvmw81L+rUuWyzwRIDtxLOQEn44Qq7njeNbymcZqJe82YRmrrqPt43oUIcUjJsphl5bVr1Xyu8S6DRU1PfsrCs2UUhahN16SpfVdEhvtV27N7RfWgXZ7WKuxeX31fmDY2VNsXljuCdntWC9q9rDrI6nt3rQa5ofrm7Uus/zy4/euWLa3TN4P2+rq3M+1/Zf3GNcLEZrKbEtOU2xITfFsiEaZBBFIbmn5tqT2uaWuPQ9uEuS0xT7wtMZPelpgq/zGR4Nu1a9Q4hDHW+ctDE5slQtnO+bF149N7A32+DgxZUz0Q+ArYuRI4gzyoeOS51AcbgHvQ37WKl2BvXfWggFXVI0L8qk2dZL9L44uxSKMoRNjS8M5ISZ06li9tbas9yUC5J/Xr64+M+Rpb5Z58D3arVSv9Ni8bOMNDBF/vGdTztny85k6/fC6s8ZXYoIaXz+8G7MpXXIkLaJhwNrJhQmxIw4S4wIYXzwc19fNb+MV/0x0T/k9wZ0TWuHG1t7b1NXx9iSz3JDP/5Z60aFH9ad26lq8yVjOeVsZuMJ6Yin0k/G0FgjN9d6h8xnB2KkTwd2izPbOpnMnhIxGpfkwi9StPJtRT6Wc6A0ZXiC+fkOZNmvT42Lhpb2kjHs16Shs16yVt3DSv6Kue26yrtHGzHtImjXtJv/9u4Du13glvAAAP5ElEQVT4bZXnv9HOXwxCGcI7PQ9G0UgkpLzddz3fNmj6P2kjm67Sxrbd1dzlifve6rnNflfJZk37SFu1GiRt0aLPh+fPZU2NgjCtIAy3EFX/m4NPv41nzfGYywjMzAmxkLDIHGAqUWKRRMFIACYZwKYShQaMVr+2HoZ+sKHS4/uxRCLH5pJkGSmzfnNInu6aojTyMVKktRCCosY+vvtduvR0vdWpx6Tbnbu7Fgg69ZhwuxNvu+vk2//rMeHvDRtC+qc7kccG0bpruss3qmdSIlOGICuJgrOSyNlSGXxrONZwrpLAr6af51fT5nlXjZtJFCr+TSQyOE5WCiSpRGTuOm2OfR7dLbbTDLcQZRJEGBYpOYxYLuNSaea86VPLlMbbvyov3lP+K0lQeSvzoIplAdCu+JU4KB3lREEVNeD7rSR7K6pgsjdDh9cXBFW0MgGUDqpY1jToqzKKPSYmievGu/T9T5NV/tQmJ2IkQJg81nTmIhlOoK0hDA0Jn/bf3dd1/vvvbd3/7r2pcw/Ay//uv66bCfde172nhf+gnWlcow/99+69AV0er9U27r2se+8+4MHLOvf/e143LDxqOP8loO2ITm24NkUQK2IYRHDGb8TRw7sFW5USrK9QRhRUuTygAg5K51LFLXD8lXgv9KUBjjX9VsC7pv0V9H8l3FvJSrQXchLE81+lokmQVSkuyEwi37Jk/kxflPYijJBBLAZv5EgsLvXpN3OaXnEXBluIFhbMR0aolBOsRLFn49pqiK5TrfS/p04FDj8dvXXAmRNbHXicPrHN4fRx/5wRvb3/aQ20dU/4OZzmcRxsnNjhcO5M0IC4s1ET4becVLPmixevamPwQyBUKKsirVOdRiFbmWnPKL9pZetZoZzJoYoVhADTPypUMPujIo9y5n9U1EZ58z8qaKEitDONa3Shv0J5M9DlYa6yUam85aGK5S0A5ofKl7c80My2yWaII5Mj2bqapdPSEqVADaYqFAr07OmrOpphsPX+7NngiadPb3M4edzP4eSxXRmca7jVWfr3P3UCcsLnDnD8L8jlyV0OF2PDxtSqVfaBZs2YM7FtMDgjEonkZctKPmr6DU0abCFWrGjxqmKlsg/FYgYFhx8YCt/sRRILrGuSksL+IAI/CE56DJtRpz+DCo8l0/cKzCFLF7luPnlsa4/Tx/y6njq2BbBZjeOb/3cqv3BsK9jc0vXk8c3dThz36+m1enpIuhN6NMDfVA7J7ovFYqRQMG2AA3jMp4eBfFKFdXFwSLgjYQiqUKH8QwsL9DqfTBe6mSLZvPkRJWwGUqaUxSHCEpIiFYmCwuJt8sOuvjZ6Okx1T07BpeSKFDRujNN83ed/Sj0fk+7zi1Zz1OhhCzCSkqSkpNK/dh7Wtyi82RNy4Se5VCxUcilIIJLl6eyer35/gbFPd8MXGCvsqbt9160UYJwoEZiR5UtXn1u7YU9r+JYslJj4/9GKx5z14//5+7G7SMDALQX82mlgz4N6cJDpkhD8htseRAKyUHCHqNbCevibSXXE0E6HxWJFIv8L8fmLxICJU1cPiCakUM6MwJFgy7aDXZcu3nBULLJAYrH04+4DW/0yOWhgB4WyaQuKE3Nz/GyIQ4++HJeMpHJOsnlz2JkevacfHjV2aU9//+ONd+78q+G23YcaqXEUZF6gma+Wm7cfbOow1MNp0fJp1yIiT68lHINZ7pU0ImRnKwzPAXWNFSOMNbqwsfC8eRsWtvt52L/f/ehw96d2jv/+1G4YgJdZwfdnRWadNu2c7mqgtsPrg077wWBz8L9tQA7/edCdaTNWjNf4oK/EGMsDd/jawK0yolSao78OX9zl1WdW3LDhi4f4+v7ZZOvOAw23Av87d55sqMG23frzz+cwHUHRTYa7LHLo4zAheo3XlgiFgghFTArq9fuvP5XHWHULSd84iou+QRciT+L06f2PNGhY6ScsVLAcMmX+ufP0l1OnE8JXrNp0dZnnlusrVvhfW75iB8D32ooVgOVqeILUYAW0VYDx5QBVO63Pc/nuayuX7brmudwf5vtfW7NmR8Lly3e33frnZX2WNWVEIvJ4yNBuP9asaXqf90dXwK0+bVXhqXNx/V6+kVdOTDar8vIdW/XlOwWAl1nB92dFZp1X75RVNFDb4fXZqi/eoqov3jFVX79hqrx6o/z6/IW/u/NfAtqO6NNu2LDsfQeHXj8iYcpHDivwP3ce2cbG/b3Dc+22hJUrd11ftcrv+uKVPteX8PD0uc7zquGcl/yxCsC5ineQqmPgnj/msXilL9jgsfX64sVbEmLO3Qq8fvNdGw6VEiBGmlKr1ldtFs6ZkKCP38VRlymOTunrU0TIujOTpwyvUb9eBV+RUKrgOAXsLyHDEQnsdxMGsxIGc3CbmwcBCSBaQNBWAcZVeppjXnIChhC4E8OZMIgDO0QMN+wxImyK7JvWdd093Bxt3KaOuKivz4jLoB7OLor+A/uObNC4wvpadSy9GzaoCCif72jU8Cvvxg3KbWxYv7x3owaV1tv37+YOaxO9fdea4DHT4ezsBWPq/PhDk6UYJcPDUSXBSMBwwBvGwBdwinjwXAJy5F1LD/PzAaq8qOaJGAyPKpQcR0RYJq9Xw3z9tEkj6kZEeJ9BRvDK2A0GHsyIQV0e7w9b5XL1Uqjk4qXQllFRPg77920cGHlw7SAVDqwCuWpw5ME08Mc6YP/BlYP2H1wxaN/BFQP37/MaeOjwhv4XYwNq3roWYrpzm8cSe/tOb/NCHTx/y1QALkN7REfsWeMaFeo1NjJ4FWCNCpHB+Sj3eo2NCF49LiJ01bjQYK/J41z6xOXF96xzBnRr/9p30xz3G1cjTM6eDqq7L2qDw6EDGwZFRK4cFHlglX5Iz89qmLd60L4oDVYN3B/pOeDcxYBG1y4Hm0bt2zTR2fnXPP3bsln9Lw7HRlOIGjL5b3hzMb5cp2bpoHq1Swc2qGEVoEbFgAbWFXenowYc64C6oMOjXo1KgfVqWwXWrFJmr6kpvs+vo1lTH0kwwry+1p9B4A+NBmXK4Lv1a1oF1VXxXh64143nBsCzCpocaY7TZEOe/5qV9pST4FvAPWc0hKUFYnSFmBZXsReYqAtS4yhcS2NAaUCZwsBbQvi1VF8KGh+oLDoGaCEWEffw4zV9ZUIIHue6fHfLbwc8aNl6yIMW3wwtENi2cnpg22rYg+atHB/80nrQAydnj0XpTtBGkTJAC7FI6U9fXPj3rZutpQrWPDGFtZDKMQ9zqRzxsJAqkBpyZCFTAVvIQUemAlL1ZaejHsf8uKVMjiylSqmlVKEEcBZyGTK7/9+zb9I9oI1CZ0B7QVqI2mwUYptDGc++4TePYtbUUd2+tasz06ZJpVk2Tb/m4W7TtDKPWTZNKqvRtPKsZip8Pasp6DRTQd2XnY56/Gt+jhvMc2vepJ5b86Y13WybVptlZ2c9Y/rsMaMKMWS6VA4M0ELMgZyCGMr4UUYymf/ll+9ubtuyZFVo0OrlQbuXFRAWgF0eS5Zv91uypksHu7uZnEg/yPAyvYs2CpQBWogFSu+nxnnC+W2OMZu5Ej9VLYIe3iWjuyFZBDzqvyS/L/SfRWfkAwOZ/j4ighs2TFISqfQqmVROJgWPJEIq8mvmQyDURD4wQAsxH0jMmwk2fRpfEM4j557+7qd+T9t9O/jxNzb9H39ja69CK5Da0PRnlWk6j3mZdUx93A/GBqigsm/z+7MBg6ZsTXdC1eDP1XyDPzPykqKwGKCFWFhMp63Dpl2RYiLQ7Hp0ESHBs2cvyyoUDEeICeKICHGckAcmnFADBG2+L1vwYxqkzc1GTwx9ACIimAjZ12/eV0xzK10wDL8lcPoxbRQOAzzrhbMSXUXFgImJmIMXIginc2+HsWK6x+hf7b6p3uf7H6z7NG9ZDVCDR+/mLWtowB9/Aaz7tGhZWYXmttX6ftO6Tp/Zs6aOUDml/sBKBcfwvgkwJuou+llYDKRvhsJasKSvU6FixdcCgQA9f/Hqa/6SVMNH+29tHu/2WxHpu3l2eKD/0oLFrqXh232X7/vpp0bPNOuDFD57+qwUSFSxUsVHvKQoPAZoIRYe16qVfmr70wVCWKKQy5suWrTBWtVZDD6WLfOpnCqTV2LgqrSZTZPYYuBSiXJBh0IsUXwUeLAy7t0yhqSyCiIUnj3/9/YCX1DHBU7E3gomAhGDuBT2K8vSR3ScRtXyiQFaiPlEpK5mxjv3eNqwUc09HEbk/uO3bd1mb1pICMn8LENXY/mgB2uL3d03L31473VLzLHIukal1S4unbQvWfNhFWoiNwZoIebGUAGMO40aOLm0JX7IKgkJjYz26Nxz8t9us73bPH1KzKAwTNIgAVlgeP6cmE/z8OrUpZvr9fDIkzMxwsjMDN9znzF2aQGETE3mwgAtxFwIKojhbu3tXk+ZMqxdOSvJQyEWcf/dfVE3Iur4qV//1+eVXeshT+2+HfrE7lte5icGPW3x7QDAwKd23w1+1rGz/auDB2P+uPfoeR2WYVHZMsKHYyYPbd2mTbN3BREztZkzA7QQc+anwEYH9u7wIHTP8kZ2zWtMEGI5R+DJnpITmb5PUpRJlpKySVKcBgRSG5p+bak9zre1xzRtpqxcisrKUnHZ5ESmjJI1MVEqCRKJFIrvv2841t/Pv94w+y5G+X9aKrAk5qNhWoj5SKa+pipXrpyya8eijTcSQiw2b1zaoXvnH93afF9/+fetay3/4btqaagOUhuafm2pPc63tcc07RrLv2vVEGw1WPbDj/WXde7Uatpmn0Vtrl4IK+W/eZ533bpYpq//VD//GKCFmH9c5tkSxlja7sc60SuWjVvu7zvfbdsWwKbFbtvyFQvdfH3nuG3dPHuW32b3WWtWTFjV/sf6Z2BtWoB5zlz+TaSFmH9cUkuUgTwzQAsxz9TRiZSB/GMg/wsx/3yjligDJYYBWoglJtU00OLMAC3E4pwd6luJYYAWYolJNQ20ODNAC7E4Z6e4+Ub9KTAGaCEWGLXUMGVAdwZoIerOFdWkDBQYA7QQC4xaapgyoDsDtBB154pqUgYKjIEiL8QCi4wapgwYEAO0EA0oWdRV42WAFqLx5pZGZkAM0EI0oGRRV42XAVqIxpvbIo+MOqA7A7QQdeeKalIGCowBWogFRi01TBnQnQFaiLpzRTUpAwXGAC3EAqOWGqYM6M6AoRWi7pFRTcqAATFAC9GAkkVdNV4GaCEab25pZAbEAC1EA0oWddV4GaCFaLy5NbTISrS/tBBLdPpp8MWFAVqIxSUT1I8SzQAtxBKdfhp8cWGAFmJxyQT1o0QzYOSFWKJzS4M3IAZoIRpQsqirxssALUTjzS2NzIAYoIVoQMmirhovA7QQjTe3Rh6ZcYVHC9G48kmjMVAGaCEaaOKo28bFAC1E48onjcZAGaCFaKCJo24bFwP/BwAA//85GU7NAAAABklEQVQDALCn6f/Vmck5AAAAAElFTkSuQmCC"/>
          <p:cNvSpPr>
            <a:spLocks noChangeAspect="1" noChangeArrowheads="1"/>
          </p:cNvSpPr>
          <p:nvPr/>
        </p:nvSpPr>
        <p:spPr bwMode="auto">
          <a:xfrm>
            <a:off x="1041897" y="300578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78" name="Picture 207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561" y="3857209"/>
            <a:ext cx="997478" cy="997478"/>
          </a:xfrm>
          <a:prstGeom prst="rect">
            <a:avLst/>
          </a:prstGeom>
        </p:spPr>
      </p:pic>
      <p:pic>
        <p:nvPicPr>
          <p:cNvPr id="2079" name="Picture 16" descr="Code PNGs for Free Download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126" y="4171182"/>
            <a:ext cx="397011" cy="39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18" descr="Reasoning Gradient Linear Vector Icon Outline Thin Argument Vector ...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389" y="4067869"/>
            <a:ext cx="662318" cy="66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1" name="Rectangle 2080"/>
          <p:cNvSpPr/>
          <p:nvPr/>
        </p:nvSpPr>
        <p:spPr>
          <a:xfrm>
            <a:off x="1719205" y="4590553"/>
            <a:ext cx="40920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 smtClean="0"/>
              <a:t>OCR AI            CODING AI             REASONING </a:t>
            </a:r>
            <a:r>
              <a:rPr lang="en-IN" sz="1600" dirty="0"/>
              <a:t>AI </a:t>
            </a:r>
            <a:endParaRPr lang="en-IN" sz="1600" dirty="0" smtClean="0"/>
          </a:p>
          <a:p>
            <a:r>
              <a:rPr lang="en-US" sz="1600" dirty="0" smtClean="0"/>
              <a:t>MODEL 		MODEL 			MODEL</a:t>
            </a:r>
            <a:endParaRPr lang="en-IN" sz="1600" dirty="0"/>
          </a:p>
        </p:txBody>
      </p:sp>
      <p:cxnSp>
        <p:nvCxnSpPr>
          <p:cNvPr id="2096" name="Straight Connector 2095"/>
          <p:cNvCxnSpPr/>
          <p:nvPr/>
        </p:nvCxnSpPr>
        <p:spPr>
          <a:xfrm>
            <a:off x="2050473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9" name="Straight Connector 2098"/>
          <p:cNvCxnSpPr/>
          <p:nvPr/>
        </p:nvCxnSpPr>
        <p:spPr>
          <a:xfrm>
            <a:off x="2050473" y="5278641"/>
            <a:ext cx="31237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1" name="Straight Connector 2100"/>
          <p:cNvCxnSpPr/>
          <p:nvPr/>
        </p:nvCxnSpPr>
        <p:spPr>
          <a:xfrm flipV="1">
            <a:off x="5174207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/>
          <p:cNvCxnSpPr/>
          <p:nvPr/>
        </p:nvCxnSpPr>
        <p:spPr>
          <a:xfrm>
            <a:off x="3624377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" name="Straight Connector 2108"/>
          <p:cNvCxnSpPr/>
          <p:nvPr/>
        </p:nvCxnSpPr>
        <p:spPr>
          <a:xfrm>
            <a:off x="3624123" y="5278641"/>
            <a:ext cx="0" cy="1384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0" name="Rectangle 2109"/>
          <p:cNvSpPr/>
          <p:nvPr/>
        </p:nvSpPr>
        <p:spPr>
          <a:xfrm>
            <a:off x="4396691" y="6143979"/>
            <a:ext cx="4414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OUTPUT ANSWER WITH SOURCE DOCUMENT</a:t>
            </a:r>
          </a:p>
          <a:p>
            <a:endParaRPr lang="en-IN" dirty="0"/>
          </a:p>
        </p:txBody>
      </p:sp>
      <p:sp>
        <p:nvSpPr>
          <p:cNvPr id="2111" name="Rectangle 2110"/>
          <p:cNvSpPr/>
          <p:nvPr/>
        </p:nvSpPr>
        <p:spPr>
          <a:xfrm>
            <a:off x="2484094" y="5390771"/>
            <a:ext cx="2562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SANDBOX VERIFICATION  </a:t>
            </a:r>
          </a:p>
        </p:txBody>
      </p:sp>
      <p:cxnSp>
        <p:nvCxnSpPr>
          <p:cNvPr id="67" name="Straight Connector 66"/>
          <p:cNvCxnSpPr/>
          <p:nvPr/>
        </p:nvCxnSpPr>
        <p:spPr>
          <a:xfrm>
            <a:off x="3624123" y="5671856"/>
            <a:ext cx="0" cy="88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8090400" y="5135069"/>
            <a:ext cx="6640" cy="2557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0937070" y="5197586"/>
            <a:ext cx="7220" cy="1931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090400" y="5390771"/>
            <a:ext cx="2846670" cy="263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9524806" y="5390771"/>
            <a:ext cx="9148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3612340" y="5774647"/>
            <a:ext cx="5943136" cy="292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6463313" y="5760103"/>
            <a:ext cx="0" cy="386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3354126" y="1524000"/>
            <a:ext cx="503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16183" y="154780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TEAM ADRESTIA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03563" y="-47625"/>
            <a:ext cx="9809018" cy="83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1802314" cy="851019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508069" y="1524352"/>
            <a:ext cx="20782" cy="33967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20646" y="1779405"/>
            <a:ext cx="3602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SAFETY – CONTROLLED EXECUTION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8520646" y="2243477"/>
            <a:ext cx="34082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/>
              <a:t>     RBAC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🔒 No Internet</a:t>
            </a:r>
            <a:br>
              <a:rPr lang="en-IN" sz="2400" dirty="0"/>
            </a:br>
            <a:r>
              <a:rPr lang="en-IN" sz="2400" dirty="0"/>
              <a:t>🧪 Sandboxed Code</a:t>
            </a:r>
            <a:br>
              <a:rPr lang="en-IN" sz="2400" dirty="0"/>
            </a:br>
            <a:r>
              <a:rPr lang="en-IN" sz="2400" dirty="0"/>
              <a:t>✅ Human Approval Gates</a:t>
            </a:r>
            <a:br>
              <a:rPr lang="en-IN" sz="2400" dirty="0"/>
            </a:br>
            <a:r>
              <a:rPr lang="en-IN" sz="2400" dirty="0"/>
              <a:t>📋 Audit Logs</a:t>
            </a:r>
            <a:br>
              <a:rPr lang="en-IN" sz="2400" dirty="0"/>
            </a:br>
            <a:r>
              <a:rPr lang="en-IN" sz="2400" dirty="0"/>
              <a:t>📌 Evidence-linked Output</a:t>
            </a:r>
          </a:p>
        </p:txBody>
      </p:sp>
      <p:pic>
        <p:nvPicPr>
          <p:cNvPr id="3082" name="Picture 10" descr="Shield Icon Png at GetDrawings | Free downloa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154" y="2376985"/>
            <a:ext cx="290499" cy="29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TEAM ADRESTIA</a:t>
            </a:r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145299" y="1178566"/>
            <a:ext cx="2604381" cy="1037189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690" y="1274324"/>
            <a:ext cx="63089" cy="899606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891" y="1288295"/>
            <a:ext cx="2608166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 smtClean="0">
                <a:solidFill>
                  <a:srgbClr val="182A40"/>
                </a:solidFill>
                <a:latin typeface="Aptos"/>
              </a:rPr>
              <a:t>1</a:t>
            </a:r>
            <a:r>
              <a:rPr lang="en-US" sz="1200" b="1" dirty="0" smtClean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 smtClean="0">
                <a:solidFill>
                  <a:srgbClr val="182A40"/>
                </a:solidFill>
                <a:latin typeface="Aptos"/>
              </a:rPr>
              <a:t> 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DEPLOY ON EXISTING 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89" y="1557878"/>
            <a:ext cx="2608166" cy="5401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GPU workstation / server
Containerized local services
Air-gapped or restricted intranet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0663" y="1150368"/>
            <a:ext cx="2693417" cy="1023561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63951" y="1205380"/>
            <a:ext cx="63089" cy="899606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40883" y="1262585"/>
            <a:ext cx="2608166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 smtClean="0">
                <a:solidFill>
                  <a:srgbClr val="182A40"/>
                </a:solidFill>
                <a:latin typeface="Aptos"/>
              </a:rPr>
              <a:t>2</a:t>
            </a:r>
            <a:r>
              <a:rPr lang="en-US" sz="1200" b="1" dirty="0" smtClean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 smtClean="0">
                <a:solidFill>
                  <a:srgbClr val="182A40"/>
                </a:solidFill>
                <a:latin typeface="Aptos"/>
              </a:rPr>
              <a:t>  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MODULAR 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1860" y="1434618"/>
            <a:ext cx="2608166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LLM / VLM / OCR plugins
Task-aware routing
</a:t>
            </a:r>
            <a:r>
              <a:rPr lang="en-US" sz="1050" dirty="0" smtClean="0">
                <a:solidFill>
                  <a:srgbClr val="607487"/>
                </a:solidFill>
                <a:latin typeface="Aptos"/>
              </a:rPr>
              <a:t>New model can add later without redesigning the whole system</a:t>
            </a:r>
            <a:endParaRPr sz="105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61765" y="1126308"/>
            <a:ext cx="2242009" cy="1065386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9882" y="1238620"/>
            <a:ext cx="45719" cy="877643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2150" y="1208610"/>
            <a:ext cx="2221198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 smtClean="0">
                <a:solidFill>
                  <a:srgbClr val="182A40"/>
                </a:solidFill>
                <a:latin typeface="Aptos"/>
              </a:rPr>
              <a:t>3</a:t>
            </a:r>
            <a:r>
              <a:rPr lang="en-US" sz="1200" b="1" dirty="0" smtClean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 smtClean="0">
                <a:solidFill>
                  <a:srgbClr val="182A40"/>
                </a:solidFill>
                <a:latin typeface="Aptos"/>
              </a:rPr>
              <a:t>  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CONTROLLED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4727" y="1617700"/>
            <a:ext cx="2221198" cy="5401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RBAC + approval gates
Sandboxed tools
Full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664" y="3824178"/>
            <a:ext cx="1616479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WHY VIABLE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51" y="4102243"/>
            <a:ext cx="1422514" cy="490249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52" y="4173473"/>
            <a:ext cx="1422514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50" b="1" dirty="0">
                <a:solidFill>
                  <a:srgbClr val="182A40"/>
                </a:solidFill>
                <a:latin typeface="Aptos"/>
              </a:rPr>
              <a:t>OPEN-WEIGHT
No vendor lock-in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79805" y="4088167"/>
            <a:ext cx="1422514" cy="504326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12677" y="4216158"/>
            <a:ext cx="1422514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50" b="1" dirty="0">
                <a:solidFill>
                  <a:srgbClr val="182A40"/>
                </a:solidFill>
                <a:latin typeface="Aptos"/>
              </a:rPr>
              <a:t>LOCAL KNOWLEDGE
Private RAG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86958" y="4105069"/>
            <a:ext cx="1422514" cy="504325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9830" y="4168129"/>
            <a:ext cx="1422514" cy="34778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50" b="1" dirty="0">
                <a:solidFill>
                  <a:srgbClr val="182A40"/>
                </a:solidFill>
                <a:latin typeface="Aptos"/>
              </a:rPr>
              <a:t>SAFE TOOLING
Sandboxed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2831" y="4101960"/>
            <a:ext cx="1591082" cy="504326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13122" y="4156855"/>
            <a:ext cx="1484950" cy="49398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50" b="1" dirty="0">
                <a:solidFill>
                  <a:srgbClr val="182A40"/>
                </a:solidFill>
                <a:latin typeface="Aptos"/>
              </a:rPr>
              <a:t>MEASURABLE
Accuracy • latency • egress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528851" y="1524352"/>
            <a:ext cx="3593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122828" y="1524352"/>
            <a:ext cx="0" cy="33967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8528851" y="4921133"/>
            <a:ext cx="359397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20658" y="5407203"/>
            <a:ext cx="4327578" cy="1413234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0658" y="5381611"/>
            <a:ext cx="56623" cy="1413234"/>
          </a:xfrm>
          <a:prstGeom prst="rect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3904" y="5469014"/>
            <a:ext cx="4101087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TODAY — FRAGMENTED 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933" y="5807880"/>
            <a:ext cx="4101087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• Manual review of reports
• Multiple disconnected tools
• Cloud AI blocked by policy
• Answers are hard to audit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7560" y="5816158"/>
            <a:ext cx="444891" cy="39395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60208" y="5395535"/>
            <a:ext cx="4327578" cy="1413234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60208" y="5395535"/>
            <a:ext cx="56623" cy="141323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4799" y="5505263"/>
            <a:ext cx="4101087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WITH OUR WORKBENCH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4799" y="5843592"/>
            <a:ext cx="4101087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• One sovereign workspace
• Agent plans + executes + verifies
• Local model selected per task
• Evidence + audit trail + deliverable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4997" y="4900023"/>
            <a:ext cx="8642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82A40"/>
                </a:solidFill>
                <a:latin typeface="Aptos"/>
              </a:rPr>
              <a:t>FROM CONFIDENTIAL DATA TO DECISION-READY OUTPUT</a:t>
            </a:r>
            <a:endParaRPr lang="en-US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2652" y="2398728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Aptos"/>
              </a:rPr>
              <a:t>FEASIBILITY</a:t>
            </a:r>
            <a:r>
              <a:rPr lang="en-IN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PROOF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55017" y="2829732"/>
            <a:ext cx="1946763" cy="913344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ptos"/>
              </a:rPr>
              <a:t>Verified OUTPUT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437163" y="2797783"/>
            <a:ext cx="1700411" cy="9614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2" name="Rounded Rectangle 81"/>
          <p:cNvSpPr/>
          <p:nvPr/>
        </p:nvSpPr>
        <p:spPr>
          <a:xfrm>
            <a:off x="4497844" y="2781966"/>
            <a:ext cx="1725306" cy="968041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Aptos"/>
              </a:rPr>
              <a:t>AGENT + RAG </a:t>
            </a:r>
            <a:r>
              <a:rPr lang="en-IN" sz="1600" dirty="0" smtClean="0">
                <a:solidFill>
                  <a:schemeClr val="tx1"/>
                </a:solidFill>
                <a:latin typeface="Aptos"/>
              </a:rPr>
              <a:t>+ </a:t>
            </a:r>
            <a:r>
              <a:rPr lang="en-IN" sz="1600" dirty="0">
                <a:solidFill>
                  <a:schemeClr val="tx1"/>
                </a:solidFill>
                <a:latin typeface="Aptos"/>
              </a:rPr>
              <a:t>TOOLS</a:t>
            </a:r>
            <a:endParaRPr sz="160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674423" y="2757951"/>
            <a:ext cx="12694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ptos"/>
              </a:rPr>
              <a:t>Open Source AI Models and Stack</a:t>
            </a:r>
            <a:endParaRPr lang="en-US" sz="1600" dirty="0">
              <a:latin typeface="Apto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158492" y="2798316"/>
            <a:ext cx="1832288" cy="935343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ptos"/>
              </a:rPr>
              <a:t>Server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2120411" y="3222702"/>
            <a:ext cx="230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4253345" y="3222702"/>
            <a:ext cx="234026" cy="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294169" y="3265986"/>
            <a:ext cx="2608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3942" y="621286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32369" y="904279"/>
            <a:ext cx="71246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smtClean="0"/>
              <a:t>                                        </a:t>
            </a:r>
            <a:r>
              <a:rPr lang="en-IN" sz="2400" dirty="0" smtClean="0"/>
              <a:t>SOVEREIGN AI </a:t>
            </a:r>
            <a:endParaRPr lang="en-IN" sz="2400" dirty="0"/>
          </a:p>
          <a:p>
            <a:r>
              <a:rPr lang="en-IN" dirty="0"/>
              <a:t>                      </a:t>
            </a:r>
          </a:p>
          <a:p>
            <a:r>
              <a:rPr lang="en-IN" dirty="0" smtClean="0"/>
              <a:t>               </a:t>
            </a:r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9996654" y="1646489"/>
            <a:ext cx="0" cy="204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621976" y="1588436"/>
            <a:ext cx="8400329" cy="8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630809" y="1646489"/>
            <a:ext cx="0" cy="1445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35125" y="1568970"/>
            <a:ext cx="0" cy="289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35125" y="1290472"/>
            <a:ext cx="0" cy="313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78569" y="1778132"/>
            <a:ext cx="997687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800" dirty="0" smtClean="0"/>
              <a:t>SECURITY         </a:t>
            </a:r>
            <a:r>
              <a:rPr lang="en-IN" sz="2800" dirty="0" smtClean="0"/>
              <a:t>                  PRODUCTIVITY                               QUALITY</a:t>
            </a:r>
            <a:endParaRPr lang="en-IN" sz="2800" dirty="0"/>
          </a:p>
          <a:p>
            <a:r>
              <a:rPr lang="en-IN" sz="2800" dirty="0"/>
              <a:t>       </a:t>
            </a:r>
            <a:r>
              <a:rPr lang="en-IN" sz="2800" dirty="0" smtClean="0"/>
              <a:t>                               </a:t>
            </a:r>
            <a:endParaRPr lang="en-IN" sz="2800" dirty="0"/>
          </a:p>
          <a:p>
            <a:r>
              <a:rPr lang="en-IN" sz="2800" dirty="0"/>
              <a:t> Confidential   </a:t>
            </a:r>
            <a:r>
              <a:rPr lang="en-IN" sz="2800" dirty="0" smtClean="0"/>
              <a:t>              </a:t>
            </a:r>
            <a:r>
              <a:rPr lang="en-IN" sz="2800" dirty="0" smtClean="0"/>
              <a:t>      Faster </a:t>
            </a:r>
            <a:r>
              <a:rPr lang="en-IN" sz="2800" dirty="0"/>
              <a:t>work   </a:t>
            </a:r>
            <a:r>
              <a:rPr lang="en-IN" sz="2800" dirty="0" smtClean="0"/>
              <a:t>    </a:t>
            </a:r>
            <a:r>
              <a:rPr lang="en-IN" sz="2800" dirty="0" smtClean="0"/>
              <a:t>                  </a:t>
            </a:r>
            <a:r>
              <a:rPr lang="en-IN" sz="2800" dirty="0" smtClean="0"/>
              <a:t>Evidence-based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smtClean="0"/>
              <a:t>data </a:t>
            </a:r>
            <a:r>
              <a:rPr lang="en-IN" sz="2800" dirty="0"/>
              <a:t>stays       </a:t>
            </a:r>
            <a:r>
              <a:rPr lang="en-IN" sz="2800" dirty="0" smtClean="0"/>
              <a:t>              </a:t>
            </a:r>
            <a:r>
              <a:rPr lang="en-IN" sz="2800" dirty="0" smtClean="0"/>
              <a:t>      automation                                 outputs</a:t>
            </a:r>
            <a:endParaRPr lang="en-IN" sz="2800" dirty="0"/>
          </a:p>
          <a:p>
            <a:r>
              <a:rPr lang="en-IN" sz="2800" dirty="0"/>
              <a:t> </a:t>
            </a:r>
            <a:r>
              <a:rPr lang="en-IN" sz="2800" dirty="0" smtClean="0"/>
              <a:t>     inside</a:t>
            </a:r>
            <a:endParaRPr lang="en-IN" sz="28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9996654" y="2315183"/>
            <a:ext cx="0" cy="23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721726" y="2290494"/>
            <a:ext cx="0" cy="25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621976" y="2235106"/>
            <a:ext cx="0" cy="31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009" y="3424515"/>
            <a:ext cx="1345269" cy="134526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56" y="3976373"/>
            <a:ext cx="639863" cy="63986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086" y="3362442"/>
            <a:ext cx="1524000" cy="15240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4507410"/>
            <a:ext cx="7408954" cy="1058422"/>
          </a:xfrm>
          <a:prstGeom prst="rect">
            <a:avLst/>
          </a:prstGeom>
        </p:spPr>
      </p:pic>
      <p:sp>
        <p:nvSpPr>
          <p:cNvPr id="36" name="Oval 3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TEAM ADRESTIA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403479" y="5574095"/>
            <a:ext cx="1998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Impact Industries :-</a:t>
            </a:r>
            <a:endParaRPr lang="en-IN" dirty="0"/>
          </a:p>
        </p:txBody>
      </p:sp>
      <p:sp>
        <p:nvSpPr>
          <p:cNvPr id="43" name="Rounded Rectangle 42"/>
          <p:cNvSpPr/>
          <p:nvPr/>
        </p:nvSpPr>
        <p:spPr>
          <a:xfrm>
            <a:off x="928430" y="5913348"/>
            <a:ext cx="2256072" cy="63047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0523" y="5979705"/>
            <a:ext cx="2073192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INDUSTRY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Inspection reports → decisions → approval documents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367382" y="5913348"/>
            <a:ext cx="2224488" cy="63047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 rot="10800000" flipV="1">
            <a:off x="3533177" y="5979704"/>
            <a:ext cx="1882417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PSUs / GOVERNMENT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Sensitive documents processed without cloud exposure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735125" y="5913348"/>
            <a:ext cx="2299718" cy="58342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28477" y="5946526"/>
            <a:ext cx="2279906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ENGINEERING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 smtClean="0"/>
              <a:t>Blueprints, </a:t>
            </a:r>
            <a:r>
              <a:rPr lang="en-US" sz="1000" dirty="0"/>
              <a:t>calculations and technical reports in one workflow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197909" y="5896630"/>
            <a:ext cx="2345119" cy="6001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48" y="5935687"/>
            <a:ext cx="2240280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IT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Code generation + sandbox testing + verification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3" name="Slide Number Placeholder 5"/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4" name="Footer Placeholder 6"/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658368" y="5971032"/>
            <a:ext cx="1024128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19" b="1" dirty="0">
                <a:solidFill>
                  <a:srgbClr val="182A40"/>
                </a:solidFill>
                <a:latin typeface="Aptos"/>
              </a:rPr>
              <a:t>Our architecture combines proven open technologies into one sovereign, multimodal and agentic workflow for confidential industrial work.</a:t>
            </a:r>
          </a:p>
        </p:txBody>
      </p:sp>
      <p:sp>
        <p:nvSpPr>
          <p:cNvPr id="173" name="Title 1"/>
          <p:cNvSpPr txBox="1">
            <a:spLocks/>
          </p:cNvSpPr>
          <p:nvPr/>
        </p:nvSpPr>
        <p:spPr bwMode="auto">
          <a:xfrm>
            <a:off x="640079" y="35554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5" name="Footer Placeholder 6"/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 smtClean="0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6" name="Oval 17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77" name="Picture 1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658368" y="114300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dirty="0">
                <a:solidFill>
                  <a:srgbClr val="182A40"/>
                </a:solidFill>
                <a:latin typeface="Aptos"/>
              </a:rPr>
              <a:t>RESEARCH BASIS + KEY REFERENCES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13232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13232" y="1627632"/>
            <a:ext cx="64008" cy="11430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877824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OPEN-WEIGHT AI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7824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Qwen • Llama • Mistral • Gemma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337560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3337560" y="1627632"/>
            <a:ext cx="64008" cy="1143000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3502152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DOCUMENT INTELLIGENCE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02152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PaddleOCR • OCR + VLM pipelines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961888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5961888" y="1627632"/>
            <a:ext cx="64008" cy="1143000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126479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RAG / KNOWLEDGE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26479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FAISS • Qdrant • Milvus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586216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586216" y="1627632"/>
            <a:ext cx="64008" cy="11430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750808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AGENTIC ORCHESTRATION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750808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LangChain • LlamaIndex • Haystack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49808" y="309067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607487"/>
                </a:solidFill>
                <a:latin typeface="Aptos"/>
              </a:rPr>
              <a:t>SELECTED REFERENCES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49808" y="3456432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1. Smart India Hackathon 2026 — Problem Statement SIH26117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9808" y="3986783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2. Qwen • Meta Llama • Mistral • Gemma — official model documentation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49808" y="4517136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3. PaddleOCR — official documentation / repository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49808" y="5047488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4. FAISS — Meta AI Research / official repository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61888" y="3456432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5. Qdrant — official documentation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961888" y="3986783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6. LangChain • LlamaIndex • Haystack — official documentation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961888" y="4517136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7. NIST — AI Risk Management Framework (AI RMF)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49808" y="5577840"/>
            <a:ext cx="100584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50" b="1">
                <a:solidFill>
                  <a:srgbClr val="182A40"/>
                </a:solidFill>
                <a:latin typeface="Aptos"/>
              </a:rPr>
              <a:t>DESIGN PRINCIPLE  →  open + locally deployable components can evolve without redesigning the core.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7696</TotalTime>
  <Words>593</Words>
  <Application>Microsoft Office PowerPoint</Application>
  <PresentationFormat>Widescreen</PresentationFormat>
  <Paragraphs>155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DELL</cp:lastModifiedBy>
  <cp:revision>171</cp:revision>
  <dcterms:created xsi:type="dcterms:W3CDTF">2013-12-12T18:46:50Z</dcterms:created>
  <dcterms:modified xsi:type="dcterms:W3CDTF">2026-09-10T12:58:50Z</dcterms:modified>
  <cp:category/>
</cp:coreProperties>
</file>